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League Spartan"/>
      <p:regular r:id="rId18"/>
      <p:bold r:id="rId19"/>
    </p:embeddedFont>
    <p:embeddedFont>
      <p:font typeface="Maven Pro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MavenPr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LeagueSpartan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eagueSpartan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a115edae0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a115edae0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115edae0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a115edae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Voisi lisätä vanhan logon?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a115edae0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a115edae0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</a:t>
            </a:r>
            <a:r>
              <a:rPr b="1" lang="en-GB" sz="1050">
                <a:solidFill>
                  <a:schemeClr val="dk1"/>
                </a:solidFill>
                <a:highlight>
                  <a:srgbClr val="FFFFFF"/>
                </a:highlight>
              </a:rPr>
              <a:t>iinteät muinaisjäännökset, Valtion omistamat luonnonsuojelualueet, maastokartta, Pallas-Yllästunturin kansallispuisto. Työttömät v. 1999, aikasarja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115edae0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a115edae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115edae0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a115edae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115edae0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a115edae0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a115edae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a115edae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a115edae0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a115edae0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a115edae0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a115edae0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a115edae0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a115edae0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a115edae0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a115edae0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Maven Pro"/>
              <a:buChar char="●"/>
              <a:defRPr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○"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■"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●"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○"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■"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●"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○"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■"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eague Spartan"/>
              <a:buNone/>
              <a:defRPr sz="2400"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●"/>
              <a:defRPr sz="1200">
                <a:latin typeface="Maven Pro"/>
                <a:ea typeface="Maven Pro"/>
                <a:cs typeface="Maven Pro"/>
                <a:sym typeface="Maven Pr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  <a:defRPr sz="1200">
                <a:latin typeface="Maven Pro"/>
                <a:ea typeface="Maven Pro"/>
                <a:cs typeface="Maven Pro"/>
                <a:sym typeface="Maven Pr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■"/>
              <a:defRPr sz="1200">
                <a:latin typeface="Maven Pro"/>
                <a:ea typeface="Maven Pro"/>
                <a:cs typeface="Maven Pro"/>
                <a:sym typeface="Maven Pr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●"/>
              <a:defRPr sz="1200">
                <a:latin typeface="Maven Pro"/>
                <a:ea typeface="Maven Pro"/>
                <a:cs typeface="Maven Pro"/>
                <a:sym typeface="Maven Pr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  <a:defRPr sz="1200">
                <a:latin typeface="Maven Pro"/>
                <a:ea typeface="Maven Pro"/>
                <a:cs typeface="Maven Pro"/>
                <a:sym typeface="Maven Pr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■"/>
              <a:defRPr sz="1200">
                <a:latin typeface="Maven Pro"/>
                <a:ea typeface="Maven Pro"/>
                <a:cs typeface="Maven Pro"/>
                <a:sym typeface="Maven Pr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●"/>
              <a:defRPr sz="1200">
                <a:latin typeface="Maven Pro"/>
                <a:ea typeface="Maven Pro"/>
                <a:cs typeface="Maven Pro"/>
                <a:sym typeface="Maven Pr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  <a:defRPr sz="1200">
                <a:latin typeface="Maven Pro"/>
                <a:ea typeface="Maven Pro"/>
                <a:cs typeface="Maven Pro"/>
                <a:sym typeface="Maven Pr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■"/>
              <a:defRPr sz="1200"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eague Spartan"/>
              <a:buNone/>
              <a:defRPr sz="4800"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9" name="Google Shape;79;p19"/>
          <p:cNvPicPr preferRelativeResize="0"/>
          <p:nvPr/>
        </p:nvPicPr>
        <p:blipFill rotWithShape="1">
          <a:blip r:embed="rId2">
            <a:alphaModFix/>
          </a:blip>
          <a:srcRect b="66208" l="0" r="0" t="0"/>
          <a:stretch/>
        </p:blipFill>
        <p:spPr>
          <a:xfrm>
            <a:off x="0" y="4504596"/>
            <a:ext cx="9144000" cy="6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343" y="4546005"/>
            <a:ext cx="1460032" cy="404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720000" y="445025"/>
            <a:ext cx="811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720000" y="1152475"/>
            <a:ext cx="811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5" name="Google Shape;85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5" y="0"/>
            <a:ext cx="116219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ague Spartan"/>
              <a:buNone/>
              <a:defRPr sz="28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Char char="●"/>
              <a:defRPr sz="1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1">
            <a:alphaModFix/>
          </a:blip>
          <a:srcRect b="66208" l="0" r="0" t="0"/>
          <a:stretch/>
        </p:blipFill>
        <p:spPr>
          <a:xfrm>
            <a:off x="0" y="4504596"/>
            <a:ext cx="9144000" cy="6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66343" y="4546005"/>
            <a:ext cx="1460032" cy="40463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kari.org/" TargetMode="External"/><Relationship Id="rId4" Type="http://schemas.openxmlformats.org/officeDocument/2006/relationships/hyperlink" Target="https://github.com/oskariorg/" TargetMode="External"/><Relationship Id="rId9" Type="http://schemas.openxmlformats.org/officeDocument/2006/relationships/image" Target="../media/image16.png"/><Relationship Id="rId5" Type="http://schemas.openxmlformats.org/officeDocument/2006/relationships/hyperlink" Target="https://www.linkedin.com/groups/13103184/" TargetMode="External"/><Relationship Id="rId6" Type="http://schemas.openxmlformats.org/officeDocument/2006/relationships/hyperlink" Target="mailto:info@oskari.org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Oskari?</a:t>
            </a:r>
            <a:endParaRPr/>
          </a:p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311700" y="2915775"/>
            <a:ext cx="8520600" cy="10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>
                <a:latin typeface="League Spartan"/>
                <a:ea typeface="League Spartan"/>
                <a:cs typeface="League Spartan"/>
                <a:sym typeface="League Spartan"/>
              </a:rPr>
              <a:t>For those who use </a:t>
            </a:r>
            <a:endParaRPr sz="52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>
                <a:latin typeface="League Spartan"/>
                <a:ea typeface="League Spartan"/>
                <a:cs typeface="League Spartan"/>
                <a:sym typeface="League Spartan"/>
              </a:rPr>
              <a:t>or are</a:t>
            </a:r>
            <a:r>
              <a:rPr lang="en-GB" sz="5200">
                <a:latin typeface="League Spartan"/>
                <a:ea typeface="League Spartan"/>
                <a:cs typeface="League Spartan"/>
                <a:sym typeface="League Spartan"/>
              </a:rPr>
              <a:t> interested to use </a:t>
            </a:r>
            <a:endParaRPr sz="5200"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>
                <a:latin typeface="League Spartan"/>
                <a:ea typeface="League Spartan"/>
                <a:cs typeface="League Spartan"/>
                <a:sym typeface="League Spartan"/>
              </a:rPr>
              <a:t>Oskari map service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Oskari in a nutshell</a:t>
            </a:r>
            <a:endParaRPr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An open source map service application developed in Finland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GB" sz="1200"/>
              <a:t>The aim</a:t>
            </a:r>
            <a:r>
              <a:rPr lang="en-GB" sz="1200"/>
              <a:t>: to help organizations create better map applications for web browser use (desktop + mobile)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Oskari allows you to create a browser-based map service, either as </a:t>
            </a:r>
            <a:endParaRPr sz="1200"/>
          </a:p>
          <a:p>
            <a:pPr indent="-2921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arenR"/>
            </a:pPr>
            <a:r>
              <a:rPr lang="en-GB" sz="1000"/>
              <a:t>a standard geoportal or </a:t>
            </a:r>
            <a:endParaRPr sz="1000"/>
          </a:p>
          <a:p>
            <a:pPr indent="-2921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AutoNum type="alphaLcParenR"/>
            </a:pPr>
            <a:r>
              <a:rPr lang="en-GB" sz="1000"/>
              <a:t>an extensively customizable map embed</a:t>
            </a:r>
            <a:endParaRPr sz="10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Oskari can be customized:</a:t>
            </a:r>
            <a:endParaRPr sz="1200"/>
          </a:p>
          <a:p>
            <a:pPr indent="-2921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GB" sz="1000"/>
              <a:t>Appearance, user interface, usable functionalities, creating new functionalities</a:t>
            </a:r>
            <a:endParaRPr sz="1000"/>
          </a:p>
        </p:txBody>
      </p:sp>
      <p:pic>
        <p:nvPicPr>
          <p:cNvPr id="98" name="Google Shape;98;p22"/>
          <p:cNvPicPr preferRelativeResize="0"/>
          <p:nvPr/>
        </p:nvPicPr>
        <p:blipFill rotWithShape="1">
          <a:blip r:embed="rId3">
            <a:alphaModFix/>
          </a:blip>
          <a:srcRect b="3034" l="0" r="0" t="0"/>
          <a:stretch/>
        </p:blipFill>
        <p:spPr>
          <a:xfrm>
            <a:off x="4706975" y="242100"/>
            <a:ext cx="2474976" cy="216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5707" y="2473025"/>
            <a:ext cx="2236444" cy="195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Oskari enables</a:t>
            </a:r>
            <a:endParaRPr/>
          </a:p>
        </p:txBody>
      </p:sp>
      <p:pic>
        <p:nvPicPr>
          <p:cNvPr id="105" name="Google Shape;105;p23"/>
          <p:cNvPicPr preferRelativeResize="0"/>
          <p:nvPr/>
        </p:nvPicPr>
        <p:blipFill rotWithShape="1">
          <a:blip r:embed="rId3">
            <a:alphaModFix/>
          </a:blip>
          <a:srcRect b="66208" l="0" r="0" t="0"/>
          <a:stretch/>
        </p:blipFill>
        <p:spPr>
          <a:xfrm>
            <a:off x="0" y="4504596"/>
            <a:ext cx="9144000" cy="6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4912050" y="1152475"/>
            <a:ext cx="3920400" cy="32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Viewing spatial data in a web browser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Combining several different data sources and viewing different map layers simultaneously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Sharing your own or other people's maps to other websites as map embeds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Exporting and importing data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Thematic maps, address search, locating the end-user, 3D, user management, granting rights to layers to users with certain roles…</a:t>
            </a:r>
            <a:endParaRPr sz="1200"/>
          </a:p>
        </p:txBody>
      </p:sp>
      <p:pic>
        <p:nvPicPr>
          <p:cNvPr id="107" name="Google Shape;10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6343" y="4546005"/>
            <a:ext cx="1460032" cy="404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500" y="1269638"/>
            <a:ext cx="3316983" cy="3182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5675" y="1017725"/>
            <a:ext cx="1035650" cy="153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3"/>
          <p:cNvPicPr preferRelativeResize="0"/>
          <p:nvPr/>
        </p:nvPicPr>
        <p:blipFill rotWithShape="1">
          <a:blip r:embed="rId7">
            <a:alphaModFix/>
          </a:blip>
          <a:srcRect b="4315" l="0" r="0" t="0"/>
          <a:stretch/>
        </p:blipFill>
        <p:spPr>
          <a:xfrm>
            <a:off x="3048475" y="2936975"/>
            <a:ext cx="1863575" cy="217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 of Oskari</a:t>
            </a:r>
            <a:endParaRPr/>
          </a:p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Ease of 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Makes data easier to find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view to the spatial data that organisation produces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Comparing different map layers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geoportal that can be used to publish map embeds either to create a new standalone map service or a simple map embed for an article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Locating and editing features outdoors</a:t>
            </a:r>
            <a:endParaRPr/>
          </a:p>
        </p:txBody>
      </p:sp>
      <p:pic>
        <p:nvPicPr>
          <p:cNvPr id="117" name="Google Shape;117;p24"/>
          <p:cNvPicPr preferRelativeResize="0"/>
          <p:nvPr/>
        </p:nvPicPr>
        <p:blipFill rotWithShape="1">
          <a:blip r:embed="rId3">
            <a:alphaModFix/>
          </a:blip>
          <a:srcRect b="0" l="2386" r="2529" t="0"/>
          <a:stretch/>
        </p:blipFill>
        <p:spPr>
          <a:xfrm>
            <a:off x="5053150" y="1298538"/>
            <a:ext cx="3528276" cy="31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Requirements</a:t>
            </a:r>
            <a:endParaRPr/>
          </a:p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Necessary: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server where Oskari is located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Geospatial data that are available via an API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And if needed: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software (GeoServer, for example) that allows organisation to publish its own data via an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database (PostgreSQL + PostGIS extensions, for example) if the organisation wants to allow user the end-users to import their own datasets to the map service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flow in Oskari (simplified)</a:t>
            </a:r>
            <a:endParaRPr/>
          </a:p>
        </p:txBody>
      </p:sp>
      <p:sp>
        <p:nvSpPr>
          <p:cNvPr id="129" name="Google Shape;129;p26"/>
          <p:cNvSpPr/>
          <p:nvPr/>
        </p:nvSpPr>
        <p:spPr>
          <a:xfrm>
            <a:off x="4161225" y="1935150"/>
            <a:ext cx="1621200" cy="15936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30" name="Google Shape;130;p26"/>
          <p:cNvSpPr txBox="1"/>
          <p:nvPr/>
        </p:nvSpPr>
        <p:spPr>
          <a:xfrm>
            <a:off x="4051425" y="2422950"/>
            <a:ext cx="18408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Oskari-based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map service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31" name="Google Shape;131;p26"/>
          <p:cNvSpPr/>
          <p:nvPr/>
        </p:nvSpPr>
        <p:spPr>
          <a:xfrm>
            <a:off x="2222900" y="2252600"/>
            <a:ext cx="1254725" cy="842600"/>
          </a:xfrm>
          <a:prstGeom prst="flowChartMagneticDisk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32" name="Google Shape;132;p26"/>
          <p:cNvSpPr/>
          <p:nvPr/>
        </p:nvSpPr>
        <p:spPr>
          <a:xfrm>
            <a:off x="316300" y="2426488"/>
            <a:ext cx="1250100" cy="66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D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33" name="Google Shape;133;p26"/>
          <p:cNvSpPr txBox="1"/>
          <p:nvPr/>
        </p:nvSpPr>
        <p:spPr>
          <a:xfrm>
            <a:off x="311700" y="2470163"/>
            <a:ext cx="12546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Geospatial data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34" name="Google Shape;134;p26"/>
          <p:cNvSpPr txBox="1"/>
          <p:nvPr/>
        </p:nvSpPr>
        <p:spPr>
          <a:xfrm>
            <a:off x="2222975" y="2502300"/>
            <a:ext cx="12546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Spatial / statistical API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1566400" y="2638275"/>
            <a:ext cx="668700" cy="190200"/>
          </a:xfrm>
          <a:prstGeom prst="rightArrow">
            <a:avLst>
              <a:gd fmla="val 42335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36" name="Google Shape;136;p26"/>
          <p:cNvSpPr/>
          <p:nvPr/>
        </p:nvSpPr>
        <p:spPr>
          <a:xfrm>
            <a:off x="3486800" y="2638275"/>
            <a:ext cx="668700" cy="190200"/>
          </a:xfrm>
          <a:prstGeom prst="rightArrow">
            <a:avLst>
              <a:gd fmla="val 42335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37" name="Google Shape;137;p26" title="face_150dp_1F1F1F_FILL0_wght200_GRAD0_opsz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1975" y="2422950"/>
            <a:ext cx="618000" cy="6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/>
          <p:nvPr/>
        </p:nvSpPr>
        <p:spPr>
          <a:xfrm>
            <a:off x="5788150" y="2638275"/>
            <a:ext cx="668700" cy="190200"/>
          </a:xfrm>
          <a:prstGeom prst="rightArrow">
            <a:avLst>
              <a:gd fmla="val 42335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39" name="Google Shape;139;p26"/>
          <p:cNvSpPr/>
          <p:nvPr/>
        </p:nvSpPr>
        <p:spPr>
          <a:xfrm rot="5400000">
            <a:off x="5049325" y="1842825"/>
            <a:ext cx="1959000" cy="17811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6427150" y="2493900"/>
            <a:ext cx="618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User roles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6940725" y="2638275"/>
            <a:ext cx="618000" cy="190200"/>
          </a:xfrm>
          <a:prstGeom prst="rightArrow">
            <a:avLst>
              <a:gd fmla="val 42335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42" name="Google Shape;142;p26" title="face_150dp_1F1F1F_FILL0_wght200_GRAD0_opsz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3050" y="3419900"/>
            <a:ext cx="618000" cy="6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 title="face_150dp_1F1F1F_FILL0_wght200_GRAD0_opsz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4950" y="1411338"/>
            <a:ext cx="618000" cy="6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6"/>
          <p:cNvSpPr/>
          <p:nvPr/>
        </p:nvSpPr>
        <p:spPr>
          <a:xfrm rot="1919085">
            <a:off x="6753346" y="3339884"/>
            <a:ext cx="617905" cy="190291"/>
          </a:xfrm>
          <a:prstGeom prst="rightArrow">
            <a:avLst>
              <a:gd fmla="val 42335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944925" y="2264550"/>
            <a:ext cx="5715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View all the data</a:t>
            </a:r>
            <a:endParaRPr sz="8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 rot="1961836">
            <a:off x="6881909" y="3074748"/>
            <a:ext cx="571455" cy="333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View and edit</a:t>
            </a:r>
            <a:endParaRPr sz="8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7" name="Google Shape;147;p26"/>
          <p:cNvSpPr/>
          <p:nvPr/>
        </p:nvSpPr>
        <p:spPr>
          <a:xfrm rot="-1428940">
            <a:off x="6753239" y="1932614"/>
            <a:ext cx="618135" cy="190195"/>
          </a:xfrm>
          <a:prstGeom prst="rightArrow">
            <a:avLst>
              <a:gd fmla="val 42335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 rot="-1456628">
            <a:off x="6576330" y="1332402"/>
            <a:ext cx="571324" cy="636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View limited amount of data</a:t>
            </a:r>
            <a:endParaRPr sz="8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data flow in Oskari</a:t>
            </a:r>
            <a:endParaRPr/>
          </a:p>
        </p:txBody>
      </p:sp>
      <p:sp>
        <p:nvSpPr>
          <p:cNvPr id="154" name="Google Shape;154;p27"/>
          <p:cNvSpPr/>
          <p:nvPr/>
        </p:nvSpPr>
        <p:spPr>
          <a:xfrm>
            <a:off x="4178912" y="2103987"/>
            <a:ext cx="1345800" cy="1359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4073163" y="2263663"/>
            <a:ext cx="15372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The main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Oskari-based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map service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(intranet)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2222900" y="2252600"/>
            <a:ext cx="1254725" cy="842600"/>
          </a:xfrm>
          <a:prstGeom prst="flowChartMagneticDisk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316300" y="2426488"/>
            <a:ext cx="1250100" cy="66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D</a:t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311700" y="2470163"/>
            <a:ext cx="12546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Geospatial data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2222975" y="2502300"/>
            <a:ext cx="12546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Spatial / statistical API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1566400" y="2638275"/>
            <a:ext cx="668700" cy="190200"/>
          </a:xfrm>
          <a:prstGeom prst="rightArrow">
            <a:avLst>
              <a:gd fmla="val 42335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3486800" y="2638275"/>
            <a:ext cx="668700" cy="190200"/>
          </a:xfrm>
          <a:prstGeom prst="rightArrow">
            <a:avLst>
              <a:gd fmla="val 42335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62" name="Google Shape;162;p27" title="face_150dp_1F1F1F_FILL0_wght200_GRAD0_opsz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1150" y="2364900"/>
            <a:ext cx="618000" cy="6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/>
          <p:nvPr/>
        </p:nvSpPr>
        <p:spPr>
          <a:xfrm>
            <a:off x="5524700" y="2638275"/>
            <a:ext cx="668700" cy="190200"/>
          </a:xfrm>
          <a:prstGeom prst="rightArrow">
            <a:avLst>
              <a:gd fmla="val 42335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7836450" y="2647450"/>
            <a:ext cx="618000" cy="190200"/>
          </a:xfrm>
          <a:prstGeom prst="rightArrow">
            <a:avLst>
              <a:gd fmla="val 42335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65" name="Google Shape;165;p27" title="face_150dp_1F1F1F_FILL0_wght200_GRAD0_opsz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2800" y="4115475"/>
            <a:ext cx="618000" cy="6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 title="face_150dp_1F1F1F_FILL0_wght200_GRAD0_opsz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200" y="1331700"/>
            <a:ext cx="618000" cy="6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/>
          <p:nvPr/>
        </p:nvSpPr>
        <p:spPr>
          <a:xfrm>
            <a:off x="5023050" y="1757775"/>
            <a:ext cx="349200" cy="346200"/>
          </a:xfrm>
          <a:prstGeom prst="noSmoking">
            <a:avLst>
              <a:gd fmla="val 18750" name="adj"/>
            </a:avLst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8" name="Google Shape;168;p27"/>
          <p:cNvSpPr/>
          <p:nvPr/>
        </p:nvSpPr>
        <p:spPr>
          <a:xfrm rot="-5400000">
            <a:off x="4542798" y="3677477"/>
            <a:ext cx="618000" cy="190200"/>
          </a:xfrm>
          <a:prstGeom prst="rightArrow">
            <a:avLst>
              <a:gd fmla="val 42335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4756700" y="1261475"/>
            <a:ext cx="5715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No access</a:t>
            </a:r>
            <a:endParaRPr sz="8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7946275" y="2405100"/>
            <a:ext cx="57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View</a:t>
            </a:r>
            <a:endParaRPr sz="8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6215250" y="1945738"/>
            <a:ext cx="1621200" cy="15936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6105463" y="2192100"/>
            <a:ext cx="1840800" cy="14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Public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Oskari-based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map service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(map embed)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4946900" y="3549850"/>
            <a:ext cx="853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Admin tools &amp; maintenance in intranet</a:t>
            </a:r>
            <a:endParaRPr sz="8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74" name="Google Shape;174;p27" title="face_150dp_1F1F1F_FILL0_wght200_GRAD0_opsz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725" y="2888125"/>
            <a:ext cx="618000" cy="61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title="face_150dp_1F1F1F_FILL0_wght200_GRAD0_opsz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9725" y="1884300"/>
            <a:ext cx="618000" cy="6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 txBox="1"/>
          <p:nvPr/>
        </p:nvSpPr>
        <p:spPr>
          <a:xfrm>
            <a:off x="5508450" y="2158350"/>
            <a:ext cx="683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Choose what to share</a:t>
            </a:r>
            <a:endParaRPr sz="8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Oskari community is coordinated by National Land Survey of Finland</a:t>
            </a:r>
            <a:endParaRPr/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Product owner, technical coordinator</a:t>
            </a:r>
            <a:endParaRPr/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Communications coordinator as a consultant service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Oskari Joint development forum</a:t>
            </a:r>
            <a:endParaRPr/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7 organisations (10/2025): NLS FI, Väylä, DVV, HSY, City of Tampere, City of Joensuu, Ubigu Ltd.</a:t>
            </a:r>
            <a:endParaRPr/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Meetings on a monthly basis: use cases, needs, co-operation possibilities, what’s new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Project steering committee is responsible for the code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Development, consultation, training, support, maintenance</a:t>
            </a:r>
            <a:endParaRPr/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Different companies, no vendor lock-in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Oskari community</a:t>
            </a:r>
            <a:endParaRPr/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Organisations using Oskari: Lounaistieto, Museovirasto, Ruokavirasto…</a:t>
            </a:r>
            <a:endParaRPr/>
          </a:p>
          <a:p>
            <a:pPr indent="-30146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1350"/>
              <a:t>About 50 people, from both public and private sectors</a:t>
            </a:r>
            <a:endParaRPr/>
          </a:p>
        </p:txBody>
      </p:sp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Oskari community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case: </a:t>
            </a:r>
            <a:r>
              <a:rPr lang="en-GB">
                <a:latin typeface="League Spartan"/>
                <a:ea typeface="League Spartan"/>
                <a:cs typeface="League Spartan"/>
                <a:sym typeface="League Spartan"/>
              </a:rPr>
              <a:t>Paikkatietoikkuna</a:t>
            </a:r>
            <a:endParaRPr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188" name="Google Shape;188;p29"/>
          <p:cNvPicPr preferRelativeResize="0"/>
          <p:nvPr/>
        </p:nvPicPr>
        <p:blipFill rotWithShape="1">
          <a:blip r:embed="rId3">
            <a:alphaModFix/>
          </a:blip>
          <a:srcRect b="0" l="0" r="0" t="665"/>
          <a:stretch/>
        </p:blipFill>
        <p:spPr>
          <a:xfrm>
            <a:off x="4572000" y="1437445"/>
            <a:ext cx="4465176" cy="226860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ven Pro"/>
              <a:buChar char="●"/>
            </a:pPr>
            <a:r>
              <a:rPr lang="en-GB" sz="1600"/>
              <a:t>Released in 2009, Oskari as open source in 2011</a:t>
            </a:r>
            <a:endParaRPr sz="1600">
              <a:latin typeface="Maven Pro"/>
              <a:ea typeface="Maven Pro"/>
              <a:cs typeface="Maven Pro"/>
              <a:sym typeface="Maven Pro"/>
            </a:endParaRPr>
          </a:p>
          <a:p>
            <a:pPr indent="-3302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ven Pro"/>
              <a:buChar char="●"/>
            </a:pPr>
            <a:r>
              <a:rPr lang="en-GB" sz="1600"/>
              <a:t>The first Oskari implementation</a:t>
            </a:r>
            <a:endParaRPr sz="1600">
              <a:latin typeface="Maven Pro"/>
              <a:ea typeface="Maven Pro"/>
              <a:cs typeface="Maven Pro"/>
              <a:sym typeface="Maven Pro"/>
            </a:endParaRPr>
          </a:p>
          <a:p>
            <a:pPr indent="-3302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ven Pro"/>
              <a:buChar char="●"/>
            </a:pPr>
            <a:r>
              <a:rPr lang="en-GB" sz="1600"/>
              <a:t>Only data from Finland</a:t>
            </a:r>
            <a:endParaRPr sz="1600"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-GB" sz="1200"/>
              <a:t>~</a:t>
            </a:r>
            <a:r>
              <a:rPr lang="en-GB" sz="1200">
                <a:latin typeface="Maven Pro"/>
                <a:ea typeface="Maven Pro"/>
                <a:cs typeface="Maven Pro"/>
                <a:sym typeface="Maven Pro"/>
              </a:rPr>
              <a:t>60 </a:t>
            </a:r>
            <a:r>
              <a:rPr lang="en-GB" sz="1200"/>
              <a:t>organisations providing data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-GB" sz="1200"/>
              <a:t>~</a:t>
            </a:r>
            <a:r>
              <a:rPr lang="en-GB" sz="1200">
                <a:latin typeface="Maven Pro"/>
                <a:ea typeface="Maven Pro"/>
                <a:cs typeface="Maven Pro"/>
                <a:sym typeface="Maven Pro"/>
              </a:rPr>
              <a:t>4000 </a:t>
            </a:r>
            <a:r>
              <a:rPr lang="en-GB" sz="1200"/>
              <a:t>map layers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-GB" sz="1200"/>
              <a:t>~60</a:t>
            </a:r>
            <a:r>
              <a:rPr lang="en-GB" sz="1200">
                <a:latin typeface="Maven Pro"/>
                <a:ea typeface="Maven Pro"/>
                <a:cs typeface="Maven Pro"/>
                <a:sym typeface="Maven Pro"/>
              </a:rPr>
              <a:t> 000 </a:t>
            </a:r>
            <a:r>
              <a:rPr lang="en-GB" sz="1200"/>
              <a:t>registered users (6000 active)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</a:pPr>
            <a:r>
              <a:rPr lang="en-GB" sz="1200"/>
              <a:t>~ </a:t>
            </a:r>
            <a:r>
              <a:rPr lang="en-GB" sz="1200">
                <a:latin typeface="Maven Pro"/>
                <a:ea typeface="Maven Pro"/>
                <a:cs typeface="Maven Pro"/>
                <a:sym typeface="Maven Pro"/>
              </a:rPr>
              <a:t>5000-</a:t>
            </a:r>
            <a:r>
              <a:rPr lang="en-GB" sz="1200"/>
              <a:t>60</a:t>
            </a:r>
            <a:r>
              <a:rPr lang="en-GB" sz="1200">
                <a:latin typeface="Maven Pro"/>
                <a:ea typeface="Maven Pro"/>
                <a:cs typeface="Maven Pro"/>
                <a:sym typeface="Maven Pro"/>
              </a:rPr>
              <a:t>00 </a:t>
            </a:r>
            <a:r>
              <a:rPr lang="en-GB" sz="1200"/>
              <a:t>users every weekday</a:t>
            </a:r>
            <a:endParaRPr sz="1200">
              <a:latin typeface="Maven Pro"/>
              <a:ea typeface="Maven Pro"/>
              <a:cs typeface="Maven Pro"/>
              <a:sym typeface="Maven Pro"/>
            </a:endParaRPr>
          </a:p>
          <a:p>
            <a:pPr indent="-3302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aven Pro"/>
              <a:buChar char="●"/>
            </a:pPr>
            <a:r>
              <a:rPr lang="en-GB" sz="1600"/>
              <a:t>Used for work and leisure</a:t>
            </a:r>
            <a:endParaRPr sz="16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case: Väylä</a:t>
            </a:r>
            <a:endParaRPr/>
          </a:p>
        </p:txBody>
      </p:sp>
      <p:pic>
        <p:nvPicPr>
          <p:cNvPr id="195" name="Google Shape;1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750" y="702550"/>
            <a:ext cx="5798302" cy="295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275" y="2478900"/>
            <a:ext cx="2199358" cy="246732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311700" y="1017725"/>
            <a:ext cx="2980500" cy="13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200"/>
              <a:t>Based on a map embed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200"/>
              <a:t>Customized user interface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200"/>
              <a:t>Own functionalities, inc. filtering layers by theme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200"/>
              <a:t>The maintenance is done in geoportal that is not open for the public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Contact</a:t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4572000" y="11296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Website: </a:t>
            </a:r>
            <a:r>
              <a:rPr lang="en-GB" sz="15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https://oskari.org/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/>
              <a:t>GitHub: </a:t>
            </a:r>
            <a:r>
              <a:rPr lang="en-GB" sz="14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https://github.com/oskariorg/</a:t>
            </a:r>
            <a:r>
              <a:rPr lang="en-GB" sz="1400"/>
              <a:t> 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/>
              <a:t>LinkedIn</a:t>
            </a:r>
            <a:r>
              <a:rPr lang="en-GB" sz="1500"/>
              <a:t>: </a:t>
            </a:r>
            <a:r>
              <a:rPr lang="en-GB" sz="15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Oskari - Open Source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500"/>
              <a:t>Email:</a:t>
            </a:r>
            <a:r>
              <a:rPr lang="en-GB" sz="1500"/>
              <a:t> </a:t>
            </a:r>
            <a:r>
              <a:rPr lang="en-GB" sz="15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info@oskari.org</a:t>
            </a:r>
            <a:endParaRPr sz="1300"/>
          </a:p>
        </p:txBody>
      </p:sp>
      <p:pic>
        <p:nvPicPr>
          <p:cNvPr id="204" name="Google Shape;204;p31"/>
          <p:cNvPicPr preferRelativeResize="0"/>
          <p:nvPr/>
        </p:nvPicPr>
        <p:blipFill rotWithShape="1">
          <a:blip r:embed="rId7">
            <a:alphaModFix/>
          </a:blip>
          <a:srcRect b="66208" l="0" r="0" t="0"/>
          <a:stretch/>
        </p:blipFill>
        <p:spPr>
          <a:xfrm>
            <a:off x="0" y="4504596"/>
            <a:ext cx="9144000" cy="6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66343" y="4546005"/>
            <a:ext cx="1460032" cy="404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0951" y="1372050"/>
            <a:ext cx="3037176" cy="239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skari slides">
  <a:themeElements>
    <a:clrScheme name="Simple Light">
      <a:dk1>
        <a:srgbClr val="222222"/>
      </a:dk1>
      <a:lt1>
        <a:srgbClr val="FFFFFF"/>
      </a:lt1>
      <a:dk2>
        <a:srgbClr val="FFD400"/>
      </a:dk2>
      <a:lt2>
        <a:srgbClr val="114B5F"/>
      </a:lt2>
      <a:accent1>
        <a:srgbClr val="A3C4BC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