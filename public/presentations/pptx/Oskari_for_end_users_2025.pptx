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League Spartan"/>
      <p:regular r:id="rId13"/>
      <p:bold r:id="rId14"/>
    </p:embeddedFont>
    <p:embeddedFont>
      <p:font typeface="Maven Pro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eagueSpartan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avenPro-regular.fntdata"/><Relationship Id="rId14" Type="http://schemas.openxmlformats.org/officeDocument/2006/relationships/font" Target="fonts/LeagueSpartan-bold.fntdata"/><Relationship Id="rId16" Type="http://schemas.openxmlformats.org/officeDocument/2006/relationships/font" Target="fonts/MavenPr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0cd39f1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a0cd39f1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korosta: kirjautunut vs kirjautumaton käyttäjä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0cd39f1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0cd39f1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Voisi lisätä vanhan logon?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0cd39f1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a0cd39f1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</a:t>
            </a:r>
            <a:r>
              <a:rPr b="1" lang="en-GB" sz="1050">
                <a:solidFill>
                  <a:schemeClr val="dk1"/>
                </a:solidFill>
                <a:highlight>
                  <a:srgbClr val="FFFFFF"/>
                </a:highlight>
              </a:rPr>
              <a:t>iinteät muinaisjäännökset, Valtion omistamat luonnonsuojelualueet, maastokartta, Pallas-Yllästunturin kansallispuisto. Työttömät v. 1999, aikasarja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0cd39f1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0cd39f1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0cd39f1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0cd39f1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6-7 minutes here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0cd39f1a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a0cd39f1a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League Spartan"/>
              <a:buNone/>
              <a:defRPr sz="5200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ven Pro"/>
              <a:buNone/>
              <a:defRPr sz="2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eague Spartan"/>
              <a:buNone/>
              <a:defRPr sz="3600"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League Spartan"/>
              <a:buNone/>
              <a:defRPr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●"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○"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Maven Pro"/>
              <a:buChar char="■"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eague Spartan"/>
              <a:buNone/>
              <a:defRPr sz="24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●"/>
              <a:defRPr sz="1200"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○"/>
              <a:defRPr sz="1200"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ven Pro"/>
              <a:buChar char="■"/>
              <a:defRPr sz="1200"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eague Spartan"/>
              <a:buNone/>
              <a:defRPr sz="4800"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p19"/>
          <p:cNvPicPr preferRelativeResize="0"/>
          <p:nvPr/>
        </p:nvPicPr>
        <p:blipFill rotWithShape="1">
          <a:blip r:embed="rId2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720000" y="445025"/>
            <a:ext cx="811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720000" y="1152475"/>
            <a:ext cx="811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5" name="Google Shape;85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" y="0"/>
            <a:ext cx="116219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ague Spartan"/>
              <a:buNone/>
              <a:defRPr sz="28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Char char="●"/>
              <a:defRPr sz="18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kartta.paikkatietoikkuna.fi/?lang=en" TargetMode="External"/><Relationship Id="rId4" Type="http://schemas.openxmlformats.org/officeDocument/2006/relationships/hyperlink" Target="https://suomenvaylat.vayla.fi/?lang=en" TargetMode="External"/><Relationship Id="rId5" Type="http://schemas.openxmlformats.org/officeDocument/2006/relationships/hyperlink" Target="https://kalastusrajoitus.fi/#/kalastusrajoitu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kari.org/" TargetMode="External"/><Relationship Id="rId4" Type="http://schemas.openxmlformats.org/officeDocument/2006/relationships/hyperlink" Target="https://github.com/oskariorg/" TargetMode="External"/><Relationship Id="rId10" Type="http://schemas.openxmlformats.org/officeDocument/2006/relationships/image" Target="../media/image13.png"/><Relationship Id="rId9" Type="http://schemas.openxmlformats.org/officeDocument/2006/relationships/image" Target="../media/image2.png"/><Relationship Id="rId5" Type="http://schemas.openxmlformats.org/officeDocument/2006/relationships/hyperlink" Target="https://www.linkedin.com/groups/13103184/" TargetMode="External"/><Relationship Id="rId6" Type="http://schemas.openxmlformats.org/officeDocument/2006/relationships/hyperlink" Target="mailto:info@oskari.org" TargetMode="External"/><Relationship Id="rId7" Type="http://schemas.openxmlformats.org/officeDocument/2006/relationships/hyperlink" Target="mailto:juho@gispo.fi" TargetMode="External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Oskari for end-users</a:t>
            </a:r>
            <a:endParaRPr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1" name="Google Shape;91;p21"/>
          <p:cNvSpPr txBox="1"/>
          <p:nvPr>
            <p:ph idx="4294967295" type="body"/>
          </p:nvPr>
        </p:nvSpPr>
        <p:spPr>
          <a:xfrm>
            <a:off x="490250" y="3152225"/>
            <a:ext cx="834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Introduction to Oskari &amp; possibilities for end-users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Oskari in a nutshell</a:t>
            </a:r>
            <a:endParaRPr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An open source map service application developed in Finland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/>
              <a:t>The aim</a:t>
            </a:r>
            <a:r>
              <a:rPr lang="en-GB" sz="1200"/>
              <a:t>: to help organizations create better map applications for web browser use (desktop + mobile)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Oskari allows you to create a browser-based map service, either as </a:t>
            </a:r>
            <a:endParaRPr sz="1200"/>
          </a:p>
          <a:p>
            <a:pPr indent="-3048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arenR"/>
            </a:pPr>
            <a:r>
              <a:rPr lang="en-GB" sz="1200"/>
              <a:t>a standard geoportal or </a:t>
            </a:r>
            <a:endParaRPr sz="1200"/>
          </a:p>
          <a:p>
            <a:pPr indent="-3048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arenR"/>
            </a:pPr>
            <a:r>
              <a:rPr lang="en-GB" sz="1200"/>
              <a:t>an extensively customizable map embed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Oskari can be customized:</a:t>
            </a:r>
            <a:endParaRPr sz="1200"/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Appearance</a:t>
            </a:r>
            <a:endParaRPr sz="1200"/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User interface</a:t>
            </a:r>
            <a:endParaRPr sz="1200"/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Usable functionalities</a:t>
            </a:r>
            <a:endParaRPr sz="1200"/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Creating new functionalities</a:t>
            </a:r>
            <a:endParaRPr sz="1200"/>
          </a:p>
        </p:txBody>
      </p:sp>
      <p:pic>
        <p:nvPicPr>
          <p:cNvPr id="98" name="Google Shape;98;p22"/>
          <p:cNvPicPr preferRelativeResize="0"/>
          <p:nvPr/>
        </p:nvPicPr>
        <p:blipFill rotWithShape="1">
          <a:blip r:embed="rId3">
            <a:alphaModFix/>
          </a:blip>
          <a:srcRect b="3034" l="0" r="0" t="0"/>
          <a:stretch/>
        </p:blipFill>
        <p:spPr>
          <a:xfrm>
            <a:off x="4647425" y="251250"/>
            <a:ext cx="2474976" cy="216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5707" y="2473025"/>
            <a:ext cx="2236444" cy="195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Oskari’s possibilities</a:t>
            </a:r>
            <a:endParaRPr/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4912050" y="1152475"/>
            <a:ext cx="39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Viewing spatial data in a web browser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Combining several different data sources and viewing different map layers simultaneously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Map publishing: embed maps on other websites or create new map services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Manage user roles: who can view or edit data, what functionalities are available to the end user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Thematic maps and time series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Search bar, import and export data, locate the user, view 3D data, measure distances and areas…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Works on mobile devices, too</a:t>
            </a:r>
            <a:endParaRPr/>
          </a:p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3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500" y="1269638"/>
            <a:ext cx="3316983" cy="318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75" y="1017725"/>
            <a:ext cx="1035650" cy="15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3"/>
          <p:cNvPicPr preferRelativeResize="0"/>
          <p:nvPr/>
        </p:nvPicPr>
        <p:blipFill rotWithShape="1">
          <a:blip r:embed="rId7">
            <a:alphaModFix/>
          </a:blip>
          <a:srcRect b="4315" l="0" r="0" t="0"/>
          <a:stretch/>
        </p:blipFill>
        <p:spPr>
          <a:xfrm>
            <a:off x="3048475" y="2936975"/>
            <a:ext cx="1863575" cy="21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Oskari</a:t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Ease of use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Makes data easier to find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 view to the spatial data that organisation produces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Comparing different map layers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 geoportal that can be used to publish map embeds either to create a new standalone map service or a simple map embed for an article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Locating and editing features outdoors</a:t>
            </a:r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3">
            <a:alphaModFix/>
          </a:blip>
          <a:srcRect b="0" l="2386" r="2529" t="0"/>
          <a:stretch/>
        </p:blipFill>
        <p:spPr>
          <a:xfrm>
            <a:off x="5053150" y="1298538"/>
            <a:ext cx="3528276" cy="31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</a:t>
            </a:r>
            <a:endParaRPr/>
          </a:p>
        </p:txBody>
      </p:sp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Try out some use cases: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Paikkatietoikkuna - Oskari geoportal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https://kartta.paikkatietoikkuna.fi/?lang=en</a:t>
            </a:r>
            <a:r>
              <a:rPr lang="en-GB" sz="1700"/>
              <a:t>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Suomen Väylät - a customized map embed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https://suomenvaylat.vayla.fi/?lang=en</a:t>
            </a:r>
            <a:r>
              <a:rPr lang="en-GB" sz="1700"/>
              <a:t>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kalastusrajoitus.fi (The Fishing Restriction Service) - a map embed</a:t>
            </a:r>
            <a:endParaRPr sz="17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https://kalastusrajoitus.fi/#/kalastusrajoitus</a:t>
            </a:r>
            <a:r>
              <a:rPr lang="en-GB" sz="1700"/>
              <a:t>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</p:txBody>
      </p:sp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500"/>
              <a:t>Website: </a:t>
            </a:r>
            <a:r>
              <a:rPr lang="en-GB" sz="15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https://oskari.org/</a:t>
            </a:r>
            <a:endParaRPr sz="15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500"/>
              <a:t>GitHub: </a:t>
            </a:r>
            <a:r>
              <a:rPr lang="en-GB" sz="14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https://github.com/oskariorg/</a:t>
            </a:r>
            <a:r>
              <a:rPr lang="en-GB" sz="1400"/>
              <a:t> </a:t>
            </a:r>
            <a:endParaRPr b="1" sz="15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500"/>
              <a:t>LinkedIn</a:t>
            </a:r>
            <a:r>
              <a:rPr lang="en-GB" sz="1500"/>
              <a:t>: </a:t>
            </a:r>
            <a:r>
              <a:rPr lang="en-GB" sz="15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Oskari - Open Source</a:t>
            </a:r>
            <a:endParaRPr sz="15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GB" sz="1500"/>
              <a:t>Email:</a:t>
            </a:r>
            <a:r>
              <a:rPr lang="en-GB" sz="1500"/>
              <a:t> </a:t>
            </a:r>
            <a:r>
              <a:rPr lang="en-GB" sz="15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info@oskari.org</a:t>
            </a:r>
            <a:r>
              <a:rPr lang="en-GB" sz="1500"/>
              <a:t> &amp; </a:t>
            </a:r>
            <a:r>
              <a:rPr lang="en-GB" sz="15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juho@gispo.fi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6"/>
          <p:cNvPicPr preferRelativeResize="0"/>
          <p:nvPr/>
        </p:nvPicPr>
        <p:blipFill rotWithShape="1">
          <a:blip r:embed="rId8">
            <a:alphaModFix/>
          </a:blip>
          <a:srcRect b="66208" l="0" r="0" t="0"/>
          <a:stretch/>
        </p:blipFill>
        <p:spPr>
          <a:xfrm>
            <a:off x="0" y="4504596"/>
            <a:ext cx="9144000" cy="6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66343" y="4546005"/>
            <a:ext cx="1460032" cy="40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77776" y="874988"/>
            <a:ext cx="3037176" cy="239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skari slides">
  <a:themeElements>
    <a:clrScheme name="Simple Light">
      <a:dk1>
        <a:srgbClr val="222222"/>
      </a:dk1>
      <a:lt1>
        <a:srgbClr val="FFFFFF"/>
      </a:lt1>
      <a:dk2>
        <a:srgbClr val="FFD400"/>
      </a:dk2>
      <a:lt2>
        <a:srgbClr val="114B5F"/>
      </a:lt2>
      <a:accent1>
        <a:srgbClr val="A3C4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